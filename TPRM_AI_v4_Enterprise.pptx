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4754880" y="-914400"/>
            <a:ext cx="1463040" cy="914400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480000">
            <a:off x="5074920" y="-914400"/>
            <a:ext cx="164592" cy="9144000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577840" cy="91440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0" y="0"/>
            <a:ext cx="6611112" cy="9144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00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685800" y="-685800"/>
            <a:ext cx="1371600" cy="137160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320040" y="-320040"/>
            <a:ext cx="640080" cy="640080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10972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192024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" y="274320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356616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438912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52120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10972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192024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8720" y="274320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356616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" y="438912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8720" y="52120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74519" y="10972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74519" y="192024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74519" y="274320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74519" y="356616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74519" y="438912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74519" y="52120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60320" y="10972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60320" y="192024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60320" y="274320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60320" y="356616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560320" y="438912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60320" y="52120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246120" y="10972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46120" y="192024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46120" y="274320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46120" y="356616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46120" y="438912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46120" y="52120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31920" y="10972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31920" y="192024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31920" y="274320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931920" y="356616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31920" y="438912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931920" y="52120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17720" y="10972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17720" y="192024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17720" y="274320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617720" y="356616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617720" y="438912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17720" y="5212080"/>
            <a:ext cx="25603" cy="25603"/>
          </a:xfrm>
          <a:prstGeom prst="ellipse">
            <a:avLst/>
          </a:prstGeom>
          <a:solidFill>
            <a:srgbClr val="0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7472" y="219456"/>
            <a:ext cx="36576" cy="292608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2194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5B8"/>
                </a:solidFill>
              </a:rPr>
              <a:t>TITAN COMPANY LIMITED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" y="493776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BB8CE"/>
                </a:solidFill>
              </a:rPr>
              <a:t>A TITAN COMPANY INITIATIVE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" y="868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TPRM 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" y="1901952"/>
            <a:ext cx="2926080" cy="64008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7472" y="1901952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2029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B8"/>
                </a:solidFill>
              </a:rPr>
              <a:t>Assessment Platform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" y="2651760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B8CE"/>
                </a:solidFill>
              </a:rPr>
              <a:t>Assess vendor risks in minutes, not weeks.
Automatically identify gaps, generate action plans
and produce audit-ready reports — all in one place.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" y="3767328"/>
            <a:ext cx="1572768" cy="877824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7472" y="3767328"/>
            <a:ext cx="1572768" cy="22860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7472" y="3767328"/>
            <a:ext cx="157276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77824" y="3785615"/>
            <a:ext cx="512064" cy="274320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" y="3776472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B8"/>
                </a:solidFill>
              </a:rPr>
              <a:t>80%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" y="4096512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B8CE"/>
                </a:solidFill>
              </a:rPr>
              <a:t>Less Manual
Effort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0" y="3767328"/>
            <a:ext cx="1572768" cy="877824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11680" y="3767328"/>
            <a:ext cx="1572768" cy="22860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11680" y="3767328"/>
            <a:ext cx="157276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542032" y="3785615"/>
            <a:ext cx="512064" cy="274320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84832" y="3776472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B8"/>
                </a:solidFill>
              </a:rPr>
              <a:t>Minutes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84832" y="4096512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B8CE"/>
                </a:solidFill>
              </a:rPr>
              <a:t>Not Weeks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75888" y="3767328"/>
            <a:ext cx="1572768" cy="877824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75888" y="3767328"/>
            <a:ext cx="1572768" cy="22860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75888" y="3767328"/>
            <a:ext cx="157276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06240" y="3785615"/>
            <a:ext cx="512064" cy="274320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49040" y="3776472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B8"/>
                </a:solidFill>
              </a:rPr>
              <a:t>Auto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49040" y="4096512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B8CE"/>
                </a:solidFill>
              </a:rPr>
              <a:t>Reports
&amp; Action Plans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" y="4809744"/>
            <a:ext cx="2331720" cy="310896"/>
          </a:xfrm>
          <a:prstGeom prst="rect">
            <a:avLst/>
          </a:prstGeom>
          <a:solidFill>
            <a:srgbClr val="006050"/>
          </a:solidFill>
          <a:ln w="889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7200" y="4873752"/>
            <a:ext cx="164592" cy="164592"/>
          </a:xfrm>
          <a:prstGeom prst="ellipse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5488" y="4818888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B8"/>
                </a:solidFill>
              </a:rPr>
              <a:t>  AI-POWERED RISK INTELLIGENCE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50992" y="502920"/>
            <a:ext cx="6327648" cy="5230368"/>
          </a:xfrm>
          <a:prstGeom prst="rect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05856" y="548640"/>
            <a:ext cx="6217920" cy="5138928"/>
          </a:xfrm>
          <a:prstGeom prst="rect">
            <a:avLst/>
          </a:prstGeom>
          <a:solidFill>
            <a:srgbClr val="00E5B8"/>
          </a:solidFill>
          <a:ln w="1524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779008" y="621792"/>
            <a:ext cx="6071616" cy="4992624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621792"/>
            <a:ext cx="6071616" cy="4992624"/>
          </a:xfrm>
          <a:prstGeom prst="rect">
            <a:avLst/>
          </a:prstGeom>
        </p:spPr>
      </p:pic>
      <p:sp>
        <p:nvSpPr>
          <p:cNvPr id="86" name="Rectangle 85"/>
          <p:cNvSpPr/>
          <p:nvPr/>
        </p:nvSpPr>
        <p:spPr>
          <a:xfrm>
            <a:off x="5779008" y="5230368"/>
            <a:ext cx="6071616" cy="384048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779008" y="5230368"/>
            <a:ext cx="6071616" cy="18288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79008" y="5285232"/>
            <a:ext cx="6071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7288"/>
                </a:solidFill>
              </a:rPr>
              <a:t>TPRM AI Platform  —  Live Dashboard View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281928"/>
            <a:ext cx="12188952" cy="576072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0" y="6281928"/>
            <a:ext cx="12188952" cy="27432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92608" y="6373368"/>
            <a:ext cx="109728" cy="109728"/>
          </a:xfrm>
          <a:prstGeom prst="ellipse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0" y="6373368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7288"/>
                </a:solidFill>
              </a:rPr>
              <a:t>CONFIDENTIAL  |  Titan Company Limited  |  2025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475720" y="6336792"/>
            <a:ext cx="457200" cy="256032"/>
          </a:xfrm>
          <a:prstGeom prst="rect">
            <a:avLst/>
          </a:prstGeom>
          <a:solidFill>
            <a:srgbClr val="006050"/>
          </a:solidFill>
          <a:ln w="635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475720" y="63367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E5B8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4864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17352" y="-1371600"/>
            <a:ext cx="2743200" cy="2743200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83112" y="-1005840"/>
            <a:ext cx="2011680" cy="2011680"/>
          </a:xfrm>
          <a:prstGeom prst="ellipse">
            <a:avLst/>
          </a:prstGeom>
          <a:solidFill>
            <a:srgbClr val="00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4592"/>
            <a:ext cx="1965960" cy="310896"/>
          </a:xfrm>
          <a:prstGeom prst="rect">
            <a:avLst/>
          </a:prstGeom>
          <a:solidFill>
            <a:srgbClr val="006050"/>
          </a:solidFill>
          <a:ln w="889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0624" y="246888"/>
            <a:ext cx="128016" cy="128016"/>
          </a:xfrm>
          <a:prstGeom prst="ellipse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6459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5B8"/>
                </a:solidFill>
              </a:rPr>
              <a:t>  HOW IT HELPS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09728"/>
            <a:ext cx="9464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From Weeks of Manual Work to Minutes of Smart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603504"/>
            <a:ext cx="9464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E5B8"/>
                </a:solidFill>
              </a:rPr>
              <a:t>TPRM AI removes bottlenecks of manual vendor assessments — giving your team more time to act, not analyse.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" y="1060704"/>
            <a:ext cx="5705856" cy="1554480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" y="1060704"/>
            <a:ext cx="5705856" cy="466344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" y="1060704"/>
            <a:ext cx="5705856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" y="1060704"/>
            <a:ext cx="45720" cy="155448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5312" y="1060704"/>
            <a:ext cx="27432" cy="155448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" y="1188719"/>
            <a:ext cx="493776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1225295"/>
            <a:ext cx="420624" cy="420624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216151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0" name="Oval 19"/>
          <p:cNvSpPr/>
          <p:nvPr/>
        </p:nvSpPr>
        <p:spPr>
          <a:xfrm>
            <a:off x="5568696" y="1152144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143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1152144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Smart Vendor Screening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1463039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5B8"/>
                </a:solidFill>
              </a:rPr>
              <a:t>Instant risk scoring before onboarding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1719072"/>
            <a:ext cx="4809744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1773936"/>
            <a:ext cx="47914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B8CE"/>
                </a:solidFill>
              </a:rPr>
              <a:t>Automatically evaluates each vendor's sensitivity — data access, cloud usage, financial exposure — before any engagement begins.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5624" y="1060704"/>
            <a:ext cx="5705856" cy="1554480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35624" y="1060704"/>
            <a:ext cx="5705856" cy="466344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5624" y="1060704"/>
            <a:ext cx="5705856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35624" y="1060704"/>
            <a:ext cx="45720" cy="155448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14048" y="1060704"/>
            <a:ext cx="27432" cy="155448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55080" y="1188719"/>
            <a:ext cx="493776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91656" y="1225295"/>
            <a:ext cx="420624" cy="420624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1216151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4" name="Oval 33"/>
          <p:cNvSpPr/>
          <p:nvPr/>
        </p:nvSpPr>
        <p:spPr>
          <a:xfrm>
            <a:off x="11457432" y="1152144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57432" y="1143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1152144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Automatic Document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1463039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5B8"/>
                </a:solidFill>
              </a:rPr>
              <a:t>AI reads vendor documents so your team doesn't have 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1719072"/>
            <a:ext cx="4809744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22008" y="1773936"/>
            <a:ext cx="47914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B8CE"/>
                </a:solidFill>
              </a:rPr>
              <a:t>Upload questionnaires and evidence files. The platform reads, analyses and scores them instantly — no manual review needed.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" y="2761487"/>
            <a:ext cx="5705856" cy="1554480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6888" y="2761487"/>
            <a:ext cx="5705856" cy="466344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6888" y="2761487"/>
            <a:ext cx="5705856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6888" y="2761487"/>
            <a:ext cx="45720" cy="155448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25312" y="2761487"/>
            <a:ext cx="27432" cy="155448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6344" y="2889503"/>
            <a:ext cx="493776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2920" y="2926079"/>
            <a:ext cx="420624" cy="420624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2916935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8" name="Oval 47"/>
          <p:cNvSpPr/>
          <p:nvPr/>
        </p:nvSpPr>
        <p:spPr>
          <a:xfrm>
            <a:off x="5568696" y="2852927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68696" y="28437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" y="2852927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Compliance Gap 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" y="3163823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5B8"/>
                </a:solidFill>
              </a:rPr>
              <a:t>Pinpoints exactly where risks and gaps exist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1" y="3419855"/>
            <a:ext cx="4809744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1" y="3474720"/>
            <a:ext cx="47914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B8CE"/>
                </a:solidFill>
              </a:rPr>
              <a:t>Compares vendor claims against Titan's policies and contracts. Flags missing controls, policy conflicts and unsupported claims automatically.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35624" y="2761487"/>
            <a:ext cx="5705856" cy="1554480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35624" y="2761487"/>
            <a:ext cx="5705856" cy="466344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35624" y="2761487"/>
            <a:ext cx="5705856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35624" y="2761487"/>
            <a:ext cx="45720" cy="155448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814048" y="2761487"/>
            <a:ext cx="27432" cy="155448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55080" y="2889503"/>
            <a:ext cx="493776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91656" y="2926079"/>
            <a:ext cx="420624" cy="420624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91656" y="2916935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🛠</a:t>
            </a:r>
          </a:p>
        </p:txBody>
      </p:sp>
      <p:sp>
        <p:nvSpPr>
          <p:cNvPr id="62" name="Oval 61"/>
          <p:cNvSpPr/>
          <p:nvPr/>
        </p:nvSpPr>
        <p:spPr>
          <a:xfrm>
            <a:off x="11457432" y="2852927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57432" y="28437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2008" y="2852927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Actionable Remediation Plans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22008" y="3163823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5B8"/>
                </a:solidFill>
              </a:rPr>
              <a:t>Clear steps to fix every risk found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22008" y="3419855"/>
            <a:ext cx="4809744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22008" y="3474720"/>
            <a:ext cx="47914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B8CE"/>
                </a:solidFill>
              </a:rPr>
              <a:t>For every gap identified, a prioritised action plan is generated — with owners, deadlines and success criteria ready to share.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8" y="4462272"/>
            <a:ext cx="5705856" cy="1554480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46888" y="4462272"/>
            <a:ext cx="5705856" cy="466344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6888" y="4462272"/>
            <a:ext cx="5705856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46888" y="4462272"/>
            <a:ext cx="45720" cy="155448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25312" y="4462272"/>
            <a:ext cx="27432" cy="155448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66344" y="4590288"/>
            <a:ext cx="493776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02920" y="4626864"/>
            <a:ext cx="420624" cy="420624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461772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76" name="Oval 75"/>
          <p:cNvSpPr/>
          <p:nvPr/>
        </p:nvSpPr>
        <p:spPr>
          <a:xfrm>
            <a:off x="5568696" y="4553712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68696" y="4544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3271" y="4553712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Contract Protection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3271" y="4864608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5B8"/>
                </a:solidFill>
              </a:rPr>
              <a:t>Safeguard Titan with the right contract clauses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3271" y="5120640"/>
            <a:ext cx="4809744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3271" y="5175504"/>
            <a:ext cx="47914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B8CE"/>
                </a:solidFill>
              </a:rPr>
              <a:t>Recommends contract clauses tailored to gaps found — covering data protection, incident response and compliance obligations.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35624" y="4462272"/>
            <a:ext cx="5705856" cy="1554480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35624" y="4462272"/>
            <a:ext cx="5705856" cy="466344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35624" y="4462272"/>
            <a:ext cx="5705856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35624" y="4462272"/>
            <a:ext cx="45720" cy="1554480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814048" y="4462272"/>
            <a:ext cx="27432" cy="155448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55080" y="4590288"/>
            <a:ext cx="493776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91656" y="4626864"/>
            <a:ext cx="420624" cy="420624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91656" y="461772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90" name="Oval 89"/>
          <p:cNvSpPr/>
          <p:nvPr/>
        </p:nvSpPr>
        <p:spPr>
          <a:xfrm>
            <a:off x="11457432" y="4553712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457432" y="4544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22008" y="4553712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Reports &amp; Live Dashboard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22008" y="4864608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E5B8"/>
                </a:solidFill>
              </a:rPr>
              <a:t>Audit-ready reports generated in one click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22008" y="5120640"/>
            <a:ext cx="4809744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22008" y="5175504"/>
            <a:ext cx="47914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B8CE"/>
                </a:solidFill>
              </a:rPr>
              <a:t>Executive summaries and gap tables exported as PDF or Word. Live dashboard tracks all vendors and open risks at a glance.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281928"/>
            <a:ext cx="12188952" cy="576072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0" y="6281928"/>
            <a:ext cx="12188952" cy="27432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92608" y="6373368"/>
            <a:ext cx="109728" cy="109728"/>
          </a:xfrm>
          <a:prstGeom prst="ellipse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0" y="6373368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7288"/>
                </a:solidFill>
              </a:rPr>
              <a:t>CONFIDENTIAL  |  Titan Company Limited  |  2025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475720" y="6336792"/>
            <a:ext cx="457200" cy="256032"/>
          </a:xfrm>
          <a:prstGeom prst="rect">
            <a:avLst/>
          </a:prstGeom>
          <a:solidFill>
            <a:srgbClr val="006050"/>
          </a:solidFill>
          <a:ln w="635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475720" y="63367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E5B8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54864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-1371600"/>
            <a:ext cx="2743200" cy="2743200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00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4592"/>
            <a:ext cx="2148840" cy="310896"/>
          </a:xfrm>
          <a:prstGeom prst="rect">
            <a:avLst/>
          </a:prstGeom>
          <a:solidFill>
            <a:srgbClr val="006050"/>
          </a:solidFill>
          <a:ln w="889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0624" y="246888"/>
            <a:ext cx="128016" cy="128016"/>
          </a:xfrm>
          <a:prstGeom prst="ellipse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64592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5B8"/>
                </a:solidFill>
              </a:rPr>
              <a:t>  IMPACT &amp;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09728"/>
            <a:ext cx="9235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Built for Enterprise — Secure, Scalable &amp; Always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603504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E5B8"/>
                </a:solidFill>
              </a:rPr>
              <a:t>Designed to fit seamlessly within Titan's existing processes, governance and compliance standards.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" y="1060704"/>
            <a:ext cx="5486400" cy="402336"/>
          </a:xfrm>
          <a:prstGeom prst="rect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" y="1060704"/>
            <a:ext cx="54864" cy="40233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2336" y="1143000"/>
            <a:ext cx="237744" cy="237744"/>
          </a:xfrm>
          <a:prstGeom prst="ellipse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881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BUSINESS IMPACT 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" y="1554480"/>
            <a:ext cx="1664208" cy="1170432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" y="1554480"/>
            <a:ext cx="1664208" cy="32772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1554480"/>
            <a:ext cx="166420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" y="1609344"/>
            <a:ext cx="914400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1609344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8"/>
                </a:solidFill>
              </a:rPr>
              <a:t>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121408"/>
            <a:ext cx="1335024" cy="20116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BB8CE"/>
                </a:solidFill>
              </a:rPr>
              <a:t>Less Manual
Effort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1554480"/>
            <a:ext cx="1664208" cy="1170432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75688" y="1554480"/>
            <a:ext cx="1664208" cy="32772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75688" y="1554480"/>
            <a:ext cx="166420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50592" y="1609344"/>
            <a:ext cx="914400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21408" y="1609344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8"/>
                </a:solidFill>
              </a:rPr>
              <a:t>~10×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121408"/>
            <a:ext cx="1335024" cy="20116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0552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BB8CE"/>
                </a:solidFill>
              </a:rPr>
              <a:t>Faster
Assessments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04487" y="1554480"/>
            <a:ext cx="1664208" cy="1170432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04487" y="1554480"/>
            <a:ext cx="1664208" cy="32772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04487" y="1554480"/>
            <a:ext cx="166420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79392" y="1609344"/>
            <a:ext cx="914400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0207" y="1609344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8"/>
                </a:solidFill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79" y="2121408"/>
            <a:ext cx="1335024" cy="20116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9351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BB8CE"/>
                </a:solidFill>
              </a:rPr>
              <a:t>Consistent
Risk Scoring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61288" y="2871216"/>
            <a:ext cx="1664208" cy="1170432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61288" y="2871216"/>
            <a:ext cx="1664208" cy="32772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61288" y="2871216"/>
            <a:ext cx="166420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536192" y="2926080"/>
            <a:ext cx="914400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07008" y="292608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8"/>
                </a:solidFill>
              </a:rPr>
              <a:t>Zero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5880" y="3438144"/>
            <a:ext cx="1335024" cy="20116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6152" y="35112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BB8CE"/>
                </a:solidFill>
              </a:rPr>
              <a:t>Missed
Gaps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90088" y="2871216"/>
            <a:ext cx="1664208" cy="1170432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90088" y="2871216"/>
            <a:ext cx="1664208" cy="327720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90088" y="2871216"/>
            <a:ext cx="1664208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364991" y="2926080"/>
            <a:ext cx="914400" cy="493776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35808" y="292608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8"/>
                </a:solidFill>
              </a:rPr>
              <a:t>1 Hub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54680" y="3438144"/>
            <a:ext cx="1335024" cy="20116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44952" y="35112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BB8CE"/>
                </a:solidFill>
              </a:rPr>
              <a:t>All Vendor Risk
Activities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1060704"/>
            <a:ext cx="5943600" cy="1207008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89320" y="1060704"/>
            <a:ext cx="5943600" cy="362102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89320" y="1060704"/>
            <a:ext cx="5943600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89320" y="1060704"/>
            <a:ext cx="45720" cy="1207008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905488" y="1060704"/>
            <a:ext cx="27432" cy="1207008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08776" y="1207007"/>
            <a:ext cx="475488" cy="475488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45352" y="1243584"/>
            <a:ext cx="402336" cy="402336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5352" y="1234439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59" name="Oval 58"/>
          <p:cNvSpPr/>
          <p:nvPr/>
        </p:nvSpPr>
        <p:spPr>
          <a:xfrm>
            <a:off x="11548872" y="1152144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548872" y="1143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75704" y="1152144"/>
            <a:ext cx="4700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Secure Access &amp; Single Sign-On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75704" y="1517904"/>
            <a:ext cx="5047488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75704" y="1591055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9BB8CE"/>
                </a:solidFill>
              </a:rPr>
              <a:t>Integrates with Titan's Azure AD. Role-based access ensures the right people see the right data — with complete audit trails.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2359152"/>
            <a:ext cx="5943600" cy="1207008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89320" y="2359152"/>
            <a:ext cx="5943600" cy="362102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89320" y="2359152"/>
            <a:ext cx="5943600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89320" y="2359152"/>
            <a:ext cx="45720" cy="1207008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905488" y="2359152"/>
            <a:ext cx="27432" cy="1207008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08776" y="2505456"/>
            <a:ext cx="475488" cy="475488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245352" y="2542032"/>
            <a:ext cx="402336" cy="402336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45352" y="253288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72" name="Oval 71"/>
          <p:cNvSpPr/>
          <p:nvPr/>
        </p:nvSpPr>
        <p:spPr>
          <a:xfrm>
            <a:off x="11548872" y="2450592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548872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75704" y="2450592"/>
            <a:ext cx="4700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Instant Vendor Alerts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75704" y="2816352"/>
            <a:ext cx="5047488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75704" y="2889504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9BB8CE"/>
                </a:solidFill>
              </a:rPr>
              <a:t>Send risk findings directly to vendor contacts in one click. Fully formatted notifications — no manual emails required.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89320" y="3657600"/>
            <a:ext cx="5943600" cy="1207008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89320" y="3657600"/>
            <a:ext cx="5943600" cy="362102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89320" y="3657600"/>
            <a:ext cx="5943600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89320" y="3657600"/>
            <a:ext cx="45720" cy="1207008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905488" y="3657600"/>
            <a:ext cx="27432" cy="1207008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208776" y="3803904"/>
            <a:ext cx="475488" cy="475488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245352" y="3840480"/>
            <a:ext cx="402336" cy="402336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5352" y="38313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85" name="Oval 84"/>
          <p:cNvSpPr/>
          <p:nvPr/>
        </p:nvSpPr>
        <p:spPr>
          <a:xfrm>
            <a:off x="11548872" y="3749039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548872" y="37398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75704" y="3749039"/>
            <a:ext cx="4700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Admin &amp; Pipeline Controls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75704" y="4114800"/>
            <a:ext cx="5047488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75704" y="418795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9BB8CE"/>
                </a:solidFill>
              </a:rPr>
              <a:t>Manage users, upload Titan's internal policies as reference standards, toggle AI features and control all platform settings.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89320" y="4956048"/>
            <a:ext cx="5943600" cy="1207008"/>
          </a:xfrm>
          <a:prstGeom prst="rect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989320" y="4956048"/>
            <a:ext cx="5943600" cy="362102"/>
          </a:xfrm>
          <a:prstGeom prst="rect">
            <a:avLst/>
          </a:prstGeom>
          <a:solidFill>
            <a:srgbClr val="10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989320" y="4956048"/>
            <a:ext cx="5943600" cy="36576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989320" y="4956048"/>
            <a:ext cx="45720" cy="1207008"/>
          </a:xfrm>
          <a:prstGeom prst="rect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05488" y="4956048"/>
            <a:ext cx="27432" cy="1207008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208776" y="5102352"/>
            <a:ext cx="475488" cy="475488"/>
          </a:xfrm>
          <a:prstGeom prst="ellipse">
            <a:avLst/>
          </a:prstGeom>
          <a:solidFill>
            <a:srgbClr val="0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245352" y="5138928"/>
            <a:ext cx="402336" cy="402336"/>
          </a:xfrm>
          <a:prstGeom prst="ellipse">
            <a:avLst/>
          </a:prstGeom>
          <a:solidFill>
            <a:srgbClr val="006050"/>
          </a:solidFill>
          <a:ln w="762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45352" y="51297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98" name="Oval 97"/>
          <p:cNvSpPr/>
          <p:nvPr/>
        </p:nvSpPr>
        <p:spPr>
          <a:xfrm>
            <a:off x="11548872" y="5047488"/>
            <a:ext cx="274320" cy="274320"/>
          </a:xfrm>
          <a:prstGeom prst="ellipse">
            <a:avLst/>
          </a:prstGeom>
          <a:solidFill>
            <a:srgbClr val="0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548872" y="5038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B8"/>
                </a:solidFill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75704" y="5047488"/>
            <a:ext cx="4700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F8FF"/>
                </a:solidFill>
              </a:rPr>
              <a:t>Live Risk Dashboard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775704" y="5413248"/>
            <a:ext cx="5047488" cy="18288"/>
          </a:xfrm>
          <a:prstGeom prst="rect">
            <a:avLst/>
          </a:prstGeom>
          <a:solidFill>
            <a:srgbClr val="0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5486400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9BB8CE"/>
                </a:solidFill>
              </a:rPr>
              <a:t>Track all active assessments, vendor risk trends and open gaps — giving leadership a real-time picture of third-party exposure.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281928"/>
            <a:ext cx="12188952" cy="576072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0" y="6281928"/>
            <a:ext cx="12188952" cy="27432"/>
          </a:xfrm>
          <a:prstGeom prst="rect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92608" y="6373368"/>
            <a:ext cx="109728" cy="109728"/>
          </a:xfrm>
          <a:prstGeom prst="ellipse">
            <a:avLst/>
          </a:prstGeom>
          <a:solidFill>
            <a:srgbClr val="00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0" y="6373368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7288"/>
                </a:solidFill>
              </a:rPr>
              <a:t>CONFIDENTIAL  |  Titan Company Limited  |  2025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475720" y="6336792"/>
            <a:ext cx="457200" cy="256032"/>
          </a:xfrm>
          <a:prstGeom prst="rect">
            <a:avLst/>
          </a:prstGeom>
          <a:solidFill>
            <a:srgbClr val="006050"/>
          </a:solidFill>
          <a:ln w="6350">
            <a:solidFill>
              <a:srgbClr val="00E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475720" y="63367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E5B8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