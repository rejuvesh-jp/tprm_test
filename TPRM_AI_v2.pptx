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juvesh j - (rejuvesh)" userId="0ba05be4-8d2a-43b1-8227-9146c24f3b63" providerId="ADAL" clId="{C0E6E260-89FC-43E4-B2B2-6B0321C5EBBB}"/>
    <pc:docChg chg="custSel modSld">
      <pc:chgData name="rejuvesh j - (rejuvesh)" userId="0ba05be4-8d2a-43b1-8227-9146c24f3b63" providerId="ADAL" clId="{C0E6E260-89FC-43E4-B2B2-6B0321C5EBBB}" dt="2026-07-30T03:55:44.535" v="13" actId="20577"/>
      <pc:docMkLst>
        <pc:docMk/>
      </pc:docMkLst>
      <pc:sldChg chg="addSp delSp modSp mod">
        <pc:chgData name="rejuvesh j - (rejuvesh)" userId="0ba05be4-8d2a-43b1-8227-9146c24f3b63" providerId="ADAL" clId="{C0E6E260-89FC-43E4-B2B2-6B0321C5EBBB}" dt="2026-07-30T03:55:22.898" v="9" actId="20577"/>
        <pc:sldMkLst>
          <pc:docMk/>
          <pc:sldMk cId="0" sldId="256"/>
        </pc:sldMkLst>
        <pc:spChg chg="mod">
          <ac:chgData name="rejuvesh j - (rejuvesh)" userId="0ba05be4-8d2a-43b1-8227-9146c24f3b63" providerId="ADAL" clId="{C0E6E260-89FC-43E4-B2B2-6B0321C5EBBB}" dt="2026-07-30T03:55:22.898" v="9" actId="20577"/>
          <ac:spMkLst>
            <pc:docMk/>
            <pc:sldMk cId="0" sldId="256"/>
            <ac:spMk id="58" creationId="{00000000-0000-0000-0000-000000000000}"/>
          </ac:spMkLst>
        </pc:spChg>
        <pc:picChg chg="del">
          <ac:chgData name="rejuvesh j - (rejuvesh)" userId="0ba05be4-8d2a-43b1-8227-9146c24f3b63" providerId="ADAL" clId="{C0E6E260-89FC-43E4-B2B2-6B0321C5EBBB}" dt="2026-07-30T03:53:17.401" v="0" actId="478"/>
          <ac:picMkLst>
            <pc:docMk/>
            <pc:sldMk cId="0" sldId="256"/>
            <ac:picMk id="54" creationId="{00000000-0000-0000-0000-000000000000}"/>
          </ac:picMkLst>
        </pc:picChg>
        <pc:picChg chg="add mod">
          <ac:chgData name="rejuvesh j - (rejuvesh)" userId="0ba05be4-8d2a-43b1-8227-9146c24f3b63" providerId="ADAL" clId="{C0E6E260-89FC-43E4-B2B2-6B0321C5EBBB}" dt="2026-07-30T03:53:41.421" v="6" actId="1076"/>
          <ac:picMkLst>
            <pc:docMk/>
            <pc:sldMk cId="0" sldId="256"/>
            <ac:picMk id="61" creationId="{78C7ED68-E5F4-4C48-8CCD-F8DC67AB2B50}"/>
          </ac:picMkLst>
        </pc:picChg>
      </pc:sldChg>
      <pc:sldChg chg="modSp mod">
        <pc:chgData name="rejuvesh j - (rejuvesh)" userId="0ba05be4-8d2a-43b1-8227-9146c24f3b63" providerId="ADAL" clId="{C0E6E260-89FC-43E4-B2B2-6B0321C5EBBB}" dt="2026-07-30T03:55:32.530" v="11" actId="20577"/>
        <pc:sldMkLst>
          <pc:docMk/>
          <pc:sldMk cId="0" sldId="257"/>
        </pc:sldMkLst>
        <pc:spChg chg="mod">
          <ac:chgData name="rejuvesh j - (rejuvesh)" userId="0ba05be4-8d2a-43b1-8227-9146c24f3b63" providerId="ADAL" clId="{C0E6E260-89FC-43E4-B2B2-6B0321C5EBBB}" dt="2026-07-30T03:55:32.530" v="11" actId="20577"/>
          <ac:spMkLst>
            <pc:docMk/>
            <pc:sldMk cId="0" sldId="257"/>
            <ac:spMk id="53" creationId="{00000000-0000-0000-0000-000000000000}"/>
          </ac:spMkLst>
        </pc:spChg>
      </pc:sldChg>
      <pc:sldChg chg="modSp mod">
        <pc:chgData name="rejuvesh j - (rejuvesh)" userId="0ba05be4-8d2a-43b1-8227-9146c24f3b63" providerId="ADAL" clId="{C0E6E260-89FC-43E4-B2B2-6B0321C5EBBB}" dt="2026-07-30T03:55:44.535" v="13" actId="20577"/>
        <pc:sldMkLst>
          <pc:docMk/>
          <pc:sldMk cId="0" sldId="258"/>
        </pc:sldMkLst>
        <pc:spChg chg="mod">
          <ac:chgData name="rejuvesh j - (rejuvesh)" userId="0ba05be4-8d2a-43b1-8227-9146c24f3b63" providerId="ADAL" clId="{C0E6E260-89FC-43E4-B2B2-6B0321C5EBBB}" dt="2026-07-30T03:55:44.535" v="13" actId="20577"/>
          <ac:spMkLst>
            <pc:docMk/>
            <pc:sldMk cId="0" sldId="258"/>
            <ac:spMk id="53" creationId="{00000000-0000-0000-0000-000000000000}"/>
          </ac:spMkLst>
        </pc:spChg>
      </pc:sldChg>
    </pc:docChg>
  </pc:docChgLst>
  <pc:docChgLst>
    <pc:chgData name="rejuvesh j - (rejuvesh)" userId="S::rejuveshj@titan.co.in::0ba05be4-8d2a-43b1-8227-9146c24f3b63" providerId="AD" clId="Web-{77E24147-C5A6-7B0C-7328-16514B57875C}"/>
    <pc:docChg chg="mod modMainMaster">
      <pc:chgData name="rejuvesh j - (rejuvesh)" userId="S::rejuveshj@titan.co.in::0ba05be4-8d2a-43b1-8227-9146c24f3b63" providerId="AD" clId="Web-{77E24147-C5A6-7B0C-7328-16514B57875C}" dt="2026-07-30T05:34:34.855" v="1" actId="33475"/>
      <pc:docMkLst>
        <pc:docMk/>
      </pc:docMkLst>
      <pc:sldMasterChg chg="addSp">
        <pc:chgData name="rejuvesh j - (rejuvesh)" userId="S::rejuveshj@titan.co.in::0ba05be4-8d2a-43b1-8227-9146c24f3b63" providerId="AD" clId="Web-{77E24147-C5A6-7B0C-7328-16514B57875C}" dt="2026-07-30T05:34:34.855" v="0" actId="33475"/>
        <pc:sldMasterMkLst>
          <pc:docMk/>
          <pc:sldMasterMk cId="2209977519" sldId="2147483648"/>
        </pc:sldMasterMkLst>
        <pc:spChg chg="add">
          <ac:chgData name="rejuvesh j - (rejuvesh)" userId="S::rejuveshj@titan.co.in::0ba05be4-8d2a-43b1-8227-9146c24f3b63" providerId="AD" clId="Web-{77E24147-C5A6-7B0C-7328-16514B57875C}" dt="2026-07-30T05:34:34.855" v="0" actId="33475"/>
          <ac:spMkLst>
            <pc:docMk/>
            <pc:sldMasterMk cId="2209977519" sldId="2147483648"/>
            <ac:spMk id="8" creationId="{D5CD464F-5F68-9EC6-A435-A823D55D10F6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CD464F-5F68-9EC6-A435-A823D55D10F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8556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13248" y="0"/>
            <a:ext cx="7315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36576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59436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0" y="9144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5920" y="18288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45920" y="27432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45920" y="36576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0" y="45720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5920" y="59436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0" y="9144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0" y="18288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0" y="27432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0" y="36576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0" y="45720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0" y="59436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40480" y="9144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0" y="18288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40480" y="27432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40480" y="36576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40480" y="45720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0" y="59436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937760" y="9144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37760" y="18288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37760" y="27432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937760" y="36576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937760" y="45720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37760" y="5943600"/>
            <a:ext cx="32004" cy="3200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228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00D4AA"/>
                </a:solidFill>
              </a:rPr>
              <a:t>TITAN COMPANY LIMITED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30352"/>
            <a:ext cx="1280160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658368"/>
            <a:ext cx="4846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TPRM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1600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AA"/>
                </a:solidFill>
              </a:rPr>
              <a:t>Assessment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23317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Assess vendor risks in minutes, not weeks.
Automatically identify gaps, generate action plans
and produce audit-ready reports — all in one place.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401568"/>
            <a:ext cx="480060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0040" y="3547872"/>
            <a:ext cx="1536192" cy="777240"/>
          </a:xfrm>
          <a:prstGeom prst="rect">
            <a:avLst/>
          </a:prstGeom>
          <a:solidFill>
            <a:srgbClr val="008068"/>
          </a:solidFill>
          <a:ln w="762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3192" y="3566160"/>
            <a:ext cx="1408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AA"/>
                </a:solidFill>
              </a:rPr>
              <a:t>80%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" y="3913632"/>
            <a:ext cx="1408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Less Manual
Effort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47672" y="3547872"/>
            <a:ext cx="1536192" cy="777240"/>
          </a:xfrm>
          <a:prstGeom prst="rect">
            <a:avLst/>
          </a:prstGeom>
          <a:solidFill>
            <a:srgbClr val="008068"/>
          </a:solidFill>
          <a:ln w="762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020824" y="3566160"/>
            <a:ext cx="1408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AA"/>
                </a:solidFill>
              </a:rPr>
              <a:t>Minutes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20824" y="3913632"/>
            <a:ext cx="1408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vs Weeks
To Assess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75304" y="3547872"/>
            <a:ext cx="1536192" cy="777240"/>
          </a:xfrm>
          <a:prstGeom prst="rect">
            <a:avLst/>
          </a:prstGeom>
          <a:solidFill>
            <a:srgbClr val="008068"/>
          </a:solidFill>
          <a:ln w="762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48456" y="3566160"/>
            <a:ext cx="1408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AA"/>
                </a:solidFill>
              </a:rPr>
              <a:t>Auto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48456" y="3913632"/>
            <a:ext cx="1408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Reports &amp;
Action Plans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663440"/>
            <a:ext cx="2560320" cy="292608"/>
          </a:xfrm>
          <a:prstGeom prst="rect">
            <a:avLst/>
          </a:prstGeom>
          <a:solidFill>
            <a:srgbClr val="005045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0040" y="46634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  A TITAN COMPANY INITIATIVE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87568" y="566928"/>
            <a:ext cx="6236208" cy="504748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742432" y="621792"/>
            <a:ext cx="6126480" cy="493776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742432" y="5614416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899AA"/>
                </a:solidFill>
              </a:rPr>
              <a:t>TPRM AI Platform  —  Live Dashboard View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0" y="6263640"/>
            <a:ext cx="12188952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-127" y="6381776"/>
            <a:ext cx="121889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8899AA"/>
                </a:solidFill>
              </a:rPr>
              <a:t>CONFIDENTIAL  |  Titan Company Limited  |  202</a:t>
            </a:r>
            <a:r>
              <a:rPr lang="en-US" sz="800" b="0" i="0" dirty="0">
                <a:solidFill>
                  <a:srgbClr val="8899AA"/>
                </a:solidFill>
              </a:rPr>
              <a:t>6</a:t>
            </a:r>
            <a:endParaRPr sz="800" b="0" i="0" dirty="0">
              <a:solidFill>
                <a:srgbClr val="8899AA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521440" y="6291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01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8C7ED68-E5F4-4C48-8CCD-F8DC67AB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621792"/>
            <a:ext cx="6121907" cy="4891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6012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82880"/>
            <a:ext cx="2011680" cy="3108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A2E"/>
                </a:solidFill>
              </a:rPr>
              <a:t>HOW IT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155448"/>
            <a:ext cx="9418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From Weeks of Manual Work to Minutes of Smart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64922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AA"/>
                </a:solidFill>
              </a:rPr>
              <a:t>TPRM AI removes the bottlenecks of manual vendor assessments — giving your team more time to act, not analyse.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60704"/>
            <a:ext cx="11548872" cy="27432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6888" y="1170432"/>
            <a:ext cx="5760720" cy="1572768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6888" y="1170432"/>
            <a:ext cx="54864" cy="15727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3192" y="1325880"/>
            <a:ext cx="438912" cy="43891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" y="131673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1280160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Smart Vendor Screening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1600200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D4AA"/>
                </a:solidFill>
              </a:rPr>
              <a:t>Instant risk scoring before onboarding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865376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Automatically evaluates each vendor's sensitivity level — data access, cloud usage, financial exposure — before any engagement begins.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70432"/>
            <a:ext cx="5760720" cy="1572768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170432"/>
            <a:ext cx="54864" cy="15727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18504" y="1325880"/>
            <a:ext cx="438912" cy="43891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8504" y="131673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1280160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Automatic Document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600200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D4AA"/>
                </a:solidFill>
              </a:rPr>
              <a:t>AI reads vendor documents so your team doesn't have 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7144" y="1865376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Uploads vendor questionnaires and evidence files. The platform reads, analyses and scores them instantly — no manual page-by-page review needed.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" y="2907791"/>
            <a:ext cx="5760720" cy="1572768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46888" y="2907791"/>
            <a:ext cx="54864" cy="15727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3192" y="3063239"/>
            <a:ext cx="438912" cy="43891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" y="305409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3017520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Compliance Gap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3337559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D4AA"/>
                </a:solidFill>
              </a:rPr>
              <a:t>Pinpoints exactly where risks and gaps exist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3602735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Compares vendor claims against Titan's policies and contract standards. Flags missing controls, policy conflicts and unsupported claims automatically.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907791"/>
            <a:ext cx="5760720" cy="1572768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2907791"/>
            <a:ext cx="54864" cy="15727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18504" y="3063239"/>
            <a:ext cx="438912" cy="43891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18504" y="305409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7144" y="3017520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Actionable Remediation Plans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7144" y="3337559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D4AA"/>
                </a:solidFill>
              </a:rPr>
              <a:t>Clear steps to fix every risk found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67144" y="3602735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For every gap identified, the platform generates a prioritised action plan with owners, deadlines and success criteria — ready to share with vendors.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" y="4645152"/>
            <a:ext cx="5760720" cy="1572768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46888" y="4645152"/>
            <a:ext cx="54864" cy="15727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93192" y="4800600"/>
            <a:ext cx="438912" cy="43891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3192" y="479145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4754880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Contract Protection Recommendations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" y="5074920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D4AA"/>
                </a:solidFill>
              </a:rPr>
              <a:t>Safeguard Titan with the right contract clauses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" y="5340096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Recommends contract clauses tailored to the gaps found — covering data protection, incident response and compliance obligations.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4645152"/>
            <a:ext cx="5760720" cy="1572768"/>
          </a:xfrm>
          <a:prstGeom prst="rect">
            <a:avLst/>
          </a:prstGeom>
          <a:solidFill>
            <a:srgbClr val="0F2A44"/>
          </a:solidFill>
          <a:ln w="571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72200" y="4645152"/>
            <a:ext cx="54864" cy="15727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18504" y="4800600"/>
            <a:ext cx="438912" cy="438912"/>
          </a:xfrm>
          <a:prstGeom prst="rect">
            <a:avLst/>
          </a:prstGeom>
          <a:solidFill>
            <a:srgbClr val="00806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18504" y="479145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67144" y="4754880"/>
            <a:ext cx="4937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Reports &amp; Live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67144" y="5074920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D4AA"/>
                </a:solidFill>
              </a:rPr>
              <a:t>Audit-ready reports generated in one click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67144" y="5340096"/>
            <a:ext cx="493775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Executive summaries, gap tables and remediation plans exported as PDF or Word. Live dashboard tracks all vendors, trends and open risks at a glance.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6263640"/>
            <a:ext cx="12188952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0" y="6355080"/>
            <a:ext cx="121889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8899AA"/>
                </a:solidFill>
              </a:rPr>
              <a:t>CONFIDENTIAL  |  Titan Company Limited  |  202</a:t>
            </a:r>
            <a:r>
              <a:rPr lang="en-US" sz="800" b="0" i="0" dirty="0">
                <a:solidFill>
                  <a:srgbClr val="8899AA"/>
                </a:solidFill>
              </a:rPr>
              <a:t>6</a:t>
            </a:r>
            <a:endParaRPr sz="800" b="0" i="0" dirty="0">
              <a:solidFill>
                <a:srgbClr val="8899AA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521440" y="6291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6012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82880"/>
            <a:ext cx="2286000" cy="31089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A2E"/>
                </a:solidFill>
              </a:rPr>
              <a:t>IMPACT &amp;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55448"/>
            <a:ext cx="907999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Built for Enterprise — Secure, Scalable &amp; Easy to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649224"/>
            <a:ext cx="9079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C518"/>
                </a:solidFill>
              </a:rPr>
              <a:t>Designed to fit seamlessly within Titan's existing processes and compliance standards.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60704"/>
            <a:ext cx="11548872" cy="27432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6888" y="1170432"/>
            <a:ext cx="5440680" cy="4846320"/>
          </a:xfrm>
          <a:prstGeom prst="rect">
            <a:avLst/>
          </a:prstGeom>
          <a:solidFill>
            <a:srgbClr val="0F2A44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6888" y="1170432"/>
            <a:ext cx="5440680" cy="457200"/>
          </a:xfrm>
          <a:prstGeom prst="rect">
            <a:avLst/>
          </a:prstGeom>
          <a:solidFill>
            <a:srgbClr val="008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188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BUSINESS IMPACT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755648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8288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Reduction in manual assessment effort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231136"/>
            <a:ext cx="5120640" cy="13716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505456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~10×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5786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Faster vendor assessment turnaround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80944"/>
            <a:ext cx="5120640" cy="13716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255263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328415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Consistent, unbiased risk scoring every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730752"/>
            <a:ext cx="5120640" cy="13716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005072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7822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Missed gaps — AI reviews every document 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80560"/>
            <a:ext cx="5120640" cy="13716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4754880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AA"/>
                </a:solidFill>
              </a:rPr>
              <a:t>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8280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Unified platform for all vendor risk activities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230368"/>
            <a:ext cx="5120640" cy="13716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89320" y="1170432"/>
            <a:ext cx="5943600" cy="1161288"/>
          </a:xfrm>
          <a:prstGeom prst="rect">
            <a:avLst/>
          </a:prstGeom>
          <a:solidFill>
            <a:srgbClr val="0F2A44"/>
          </a:solidFill>
          <a:ln w="571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89320" y="1170432"/>
            <a:ext cx="54864" cy="11612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53912" y="1353312"/>
            <a:ext cx="402336" cy="402336"/>
          </a:xfrm>
          <a:prstGeom prst="rect">
            <a:avLst/>
          </a:prstGeom>
          <a:solidFill>
            <a:srgbClr val="3A2A00"/>
          </a:solidFill>
          <a:ln w="63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53912" y="133502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4264" y="126187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C518"/>
                </a:solidFill>
              </a:rPr>
              <a:t>Secure Access &amp; SSO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4264" y="159105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CCDDEE"/>
                </a:solidFill>
              </a:rPr>
              <a:t>Single Sign-On with Titan's Azure AD. Role-based access ensures the right people see the right data — with full audit trails.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404872"/>
            <a:ext cx="5943600" cy="1161288"/>
          </a:xfrm>
          <a:prstGeom prst="rect">
            <a:avLst/>
          </a:prstGeom>
          <a:solidFill>
            <a:srgbClr val="0F2A44"/>
          </a:solidFill>
          <a:ln w="571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89320" y="2404872"/>
            <a:ext cx="54864" cy="11612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53912" y="2587752"/>
            <a:ext cx="402336" cy="402336"/>
          </a:xfrm>
          <a:prstGeom prst="rect">
            <a:avLst/>
          </a:prstGeom>
          <a:solidFill>
            <a:srgbClr val="3A2A00"/>
          </a:solidFill>
          <a:ln w="63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53912" y="256946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84264" y="249631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C518"/>
                </a:solidFill>
              </a:rPr>
              <a:t>Instant Vendor Alerts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84264" y="282549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CCDDEE"/>
                </a:solidFill>
              </a:rPr>
              <a:t>Send risk findings directly to vendor contacts in one click. No manual emails — the platform handles formatted notifications automatically.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3639312"/>
            <a:ext cx="5943600" cy="1161288"/>
          </a:xfrm>
          <a:prstGeom prst="rect">
            <a:avLst/>
          </a:prstGeom>
          <a:solidFill>
            <a:srgbClr val="0F2A44"/>
          </a:solidFill>
          <a:ln w="571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89320" y="3639312"/>
            <a:ext cx="54864" cy="11612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53912" y="3822191"/>
            <a:ext cx="402336" cy="402336"/>
          </a:xfrm>
          <a:prstGeom prst="rect">
            <a:avLst/>
          </a:prstGeom>
          <a:solidFill>
            <a:srgbClr val="3A2A00"/>
          </a:solidFill>
          <a:ln w="63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53912" y="380390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84264" y="373075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C518"/>
                </a:solidFill>
              </a:rPr>
              <a:t>Admin Controls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84264" y="405993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CCDDEE"/>
                </a:solidFill>
              </a:rPr>
              <a:t>Manage users, upload Titan's internal policies and contracts as reference standards, and control platform settings — all from one admin panel.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9320" y="4873752"/>
            <a:ext cx="5943600" cy="1161288"/>
          </a:xfrm>
          <a:prstGeom prst="rect">
            <a:avLst/>
          </a:prstGeom>
          <a:solidFill>
            <a:srgbClr val="0F2A44"/>
          </a:solidFill>
          <a:ln w="571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989320" y="4873752"/>
            <a:ext cx="54864" cy="11612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53912" y="5056632"/>
            <a:ext cx="402336" cy="402336"/>
          </a:xfrm>
          <a:prstGeom prst="rect">
            <a:avLst/>
          </a:prstGeom>
          <a:solidFill>
            <a:srgbClr val="3A2A00"/>
          </a:solidFill>
          <a:ln w="63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53912" y="5038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84264" y="496519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C518"/>
                </a:solidFill>
              </a:rPr>
              <a:t>Live Risk Dashboard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84264" y="529437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CCDDEE"/>
                </a:solidFill>
              </a:rPr>
              <a:t>Track all active assessments, vendor risk trends, open gaps and monthly progress — giving leadership a clear, real-time picture of third-party risk.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6263640"/>
            <a:ext cx="12188952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0" y="6355080"/>
            <a:ext cx="121889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8899AA"/>
                </a:solidFill>
              </a:rPr>
              <a:t>CONFIDENTIAL  |  Titan Company Limited  |  202</a:t>
            </a:r>
            <a:r>
              <a:rPr lang="en-US" sz="800" b="0" i="0" dirty="0">
                <a:solidFill>
                  <a:srgbClr val="8899AA"/>
                </a:solidFill>
              </a:rPr>
              <a:t>6</a:t>
            </a:r>
            <a:endParaRPr sz="800" b="0" i="0" dirty="0">
              <a:solidFill>
                <a:srgbClr val="8899AA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521440" y="6291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ad5f1e9-d6a9-44b6-b409-44344f128308}" enabled="1" method="Standard" siteId="{7cc91c38-648e-4ce2-a4e4-517ae39fc18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514</Words>
  <Application>Microsoft Office PowerPoint</Application>
  <PresentationFormat>Custom</PresentationFormat>
  <Paragraphs>71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rejuvesh j - (rejuvesh)</cp:lastModifiedBy>
  <cp:revision>2</cp:revision>
  <dcterms:created xsi:type="dcterms:W3CDTF">2013-01-27T09:14:16Z</dcterms:created>
  <dcterms:modified xsi:type="dcterms:W3CDTF">2026-07-30T05:34:44Z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Sensitivity: Internal</vt:lpwstr>
  </property>
</Properties>
</file>