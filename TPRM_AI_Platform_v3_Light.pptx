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914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FFFFFF"/>
                </a:solidFill>
              </a:rPr>
              <a:t>TITAN COMPANY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657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FFEE"/>
                </a:solidFill>
              </a:rPr>
              <a:t>A TITAN INITIATIVE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TPRM AI  |  Assessment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60704"/>
            <a:ext cx="5486400" cy="5230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2120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13716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0116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265176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329184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93192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45720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52120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37360" y="13716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37360" y="20116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37360" y="265176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329184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393192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37360" y="45720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37360" y="52120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77440" y="13716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77440" y="20116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0" y="265176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77440" y="329184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77440" y="393192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77440" y="45720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77440" y="52120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0" y="13716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17520" y="20116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17520" y="265176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17520" y="329184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17520" y="393192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17520" y="45720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17520" y="52120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0" y="13716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0" y="20116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0" y="265176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329184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0" y="393192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0" y="45720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0" y="52120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97680" y="13716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97680" y="20116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80" y="265176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97680" y="329184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97680" y="393192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97680" y="45720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97680" y="52120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37760" y="13716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37760" y="20116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37760" y="265176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37760" y="329184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37760" y="393192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937760" y="457200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37760" y="5212080"/>
            <a:ext cx="27432" cy="27432"/>
          </a:xfrm>
          <a:prstGeom prst="rect">
            <a:avLst/>
          </a:prstGeom>
          <a:solidFill>
            <a:srgbClr val="D0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126187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A1A3A"/>
                </a:solidFill>
              </a:rPr>
              <a:t>Smarter Vendor Risk.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193852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8A"/>
                </a:solidFill>
              </a:rPr>
              <a:t>Powered by AI.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2560320"/>
            <a:ext cx="4206240" cy="4572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2724912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B82"/>
                </a:solidFill>
              </a:rPr>
              <a:t>TPRM AI automates every step of vendor risk assessment —
from document review to gap detection to audit-ready reports.
What once took weeks now takes minutes.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3858768"/>
            <a:ext cx="1572768" cy="749808"/>
          </a:xfrm>
          <a:prstGeom prst="rect">
            <a:avLst/>
          </a:prstGeom>
          <a:solidFill>
            <a:srgbClr val="D0F5EC"/>
          </a:solidFill>
          <a:ln w="889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8912" y="3877056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48A"/>
                </a:solidFill>
              </a:rPr>
              <a:t>80%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8912" y="4206240"/>
            <a:ext cx="1426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B82"/>
                </a:solidFill>
              </a:rPr>
              <a:t>Less Manual Effort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29968" y="3858768"/>
            <a:ext cx="1572768" cy="749808"/>
          </a:xfrm>
          <a:prstGeom prst="rect">
            <a:avLst/>
          </a:prstGeom>
          <a:solidFill>
            <a:srgbClr val="D0F5EC"/>
          </a:solidFill>
          <a:ln w="889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103120" y="3877056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48A"/>
                </a:solidFill>
              </a:rPr>
              <a:t>Minutes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03120" y="4206240"/>
            <a:ext cx="1426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B82"/>
                </a:solidFill>
              </a:rPr>
              <a:t>Not Weeks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94176" y="3858768"/>
            <a:ext cx="1572768" cy="749808"/>
          </a:xfrm>
          <a:prstGeom prst="rect">
            <a:avLst/>
          </a:prstGeom>
          <a:solidFill>
            <a:srgbClr val="D0F5EC"/>
          </a:solidFill>
          <a:ln w="889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67328" y="3877056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48A"/>
                </a:solidFill>
              </a:rPr>
              <a:t>Auto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67328" y="4206240"/>
            <a:ext cx="1426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B82"/>
                </a:solidFill>
              </a:rPr>
              <a:t>Reports &amp; Plans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846320"/>
            <a:ext cx="2377440" cy="310896"/>
          </a:xfrm>
          <a:prstGeom prst="rect">
            <a:avLst/>
          </a:prstGeom>
          <a:solidFill>
            <a:srgbClr val="00B48A"/>
          </a:solidFill>
          <a:ln w="635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846320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  A TITAN COMPANY INITIATIVE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0" y="1060704"/>
            <a:ext cx="6702552" cy="523036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486400" y="1060704"/>
            <a:ext cx="54864" cy="5230368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797296" y="1335024"/>
            <a:ext cx="6144768" cy="4352544"/>
          </a:xfrm>
          <a:prstGeom prst="rect">
            <a:avLst/>
          </a:prstGeom>
          <a:solidFill>
            <a:srgbClr val="C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742432" y="1280160"/>
            <a:ext cx="6144768" cy="4352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1280160"/>
            <a:ext cx="6144768" cy="4352544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5742432" y="5705856"/>
            <a:ext cx="6144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6B82"/>
                </a:solidFill>
              </a:rPr>
              <a:t>TPRM AI Platform  —  Live Dashboard View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6291072"/>
            <a:ext cx="12188952" cy="27432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0" y="637336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B82"/>
                </a:solidFill>
              </a:rPr>
              <a:t>CONFIDENTIAL  |  Titan Company Limited  |  2025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521440" y="630936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8A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1828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B48A"/>
                </a:solidFill>
              </a:rPr>
              <a:t>HOW IT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09728"/>
            <a:ext cx="9509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From Weeks of Manual Work to Minutes of Smart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585216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FFEE"/>
                </a:solidFill>
              </a:rPr>
              <a:t>TPRM AI removes the bottlenecks of manual vendor assessments — giving your team more time to act, not analyse.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" y="932688"/>
            <a:ext cx="5669280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" y="932688"/>
            <a:ext cx="64008" cy="1536192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097280"/>
            <a:ext cx="402336" cy="402336"/>
          </a:xfrm>
          <a:prstGeom prst="rect">
            <a:avLst/>
          </a:prstGeom>
          <a:solidFill>
            <a:srgbClr val="D0F5EC"/>
          </a:solidFill>
          <a:ln w="635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0881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D40"/>
                </a:solidFill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1024128"/>
            <a:ext cx="4864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A3A"/>
                </a:solidFill>
              </a:rPr>
              <a:t>Smart Vendor Screening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1335024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B48A"/>
                </a:solidFill>
              </a:rPr>
              <a:t>Instant risk scoring before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1609344"/>
            <a:ext cx="48646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B82"/>
                </a:solidFill>
              </a:rPr>
              <a:t>Automatically evaluates each vendor's sensitivity — data access, cloud usage, financial exposure — before any engagement begins.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932688"/>
            <a:ext cx="5669280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9048" y="932688"/>
            <a:ext cx="64008" cy="1536192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097280"/>
            <a:ext cx="402336" cy="402336"/>
          </a:xfrm>
          <a:prstGeom prst="rect">
            <a:avLst/>
          </a:prstGeom>
          <a:solidFill>
            <a:srgbClr val="D0F5EC"/>
          </a:solidFill>
          <a:ln w="635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0881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D40"/>
                </a:solidFill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1024128"/>
            <a:ext cx="4864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A3A"/>
                </a:solidFill>
              </a:rPr>
              <a:t>Automatic Document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5704" y="1335024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B48A"/>
                </a:solidFill>
              </a:rPr>
              <a:t>AI reads vendor documents so your team doesn't have 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1609344"/>
            <a:ext cx="48646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B82"/>
                </a:solidFill>
              </a:rPr>
              <a:t>Upload vendor questionnaires and evidence files. The platform reads, analyses and scores them instantly — no manual page-by-page review.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" y="2596896"/>
            <a:ext cx="5669280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8" y="2596896"/>
            <a:ext cx="64008" cy="1536192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761488"/>
            <a:ext cx="402336" cy="402336"/>
          </a:xfrm>
          <a:prstGeom prst="rect">
            <a:avLst/>
          </a:prstGeom>
          <a:solidFill>
            <a:srgbClr val="FFF3D0"/>
          </a:solidFill>
          <a:ln w="6350">
            <a:solidFill>
              <a:srgbClr val="D4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7523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D40"/>
                </a:solidFill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2688336"/>
            <a:ext cx="4864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A3A"/>
                </a:solidFill>
              </a:rPr>
              <a:t>Compliance Gap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2999232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48A00"/>
                </a:solidFill>
              </a:rPr>
              <a:t>Pinpoints exactly where risks and gaps exist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3273552"/>
            <a:ext cx="48646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B82"/>
                </a:solidFill>
              </a:rPr>
              <a:t>Compares vendor claims against Titan's policies and contracts. Flags missing controls, policy conflicts and unsupported claims automatically.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9048" y="2596896"/>
            <a:ext cx="5669280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9048" y="2596896"/>
            <a:ext cx="64008" cy="1536192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761488"/>
            <a:ext cx="402336" cy="402336"/>
          </a:xfrm>
          <a:prstGeom prst="rect">
            <a:avLst/>
          </a:prstGeom>
          <a:solidFill>
            <a:srgbClr val="FFF3D0"/>
          </a:solidFill>
          <a:ln w="6350">
            <a:solidFill>
              <a:srgbClr val="D4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7523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D40"/>
                </a:solidFill>
              </a:rPr>
              <a:t>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2688336"/>
            <a:ext cx="4864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A3A"/>
                </a:solidFill>
              </a:rPr>
              <a:t>Actionable Remediation Plans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5704" y="2999232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48A00"/>
                </a:solidFill>
              </a:rPr>
              <a:t>Clear steps to fix every risk found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5704" y="3273552"/>
            <a:ext cx="48646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B82"/>
                </a:solidFill>
              </a:rPr>
              <a:t>For every gap identified, a prioritised action plan is generated — with owners, deadlines and success criteria ready to share with vendors.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" y="4261104"/>
            <a:ext cx="5669280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6888" y="4261104"/>
            <a:ext cx="64008" cy="1536192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4425696"/>
            <a:ext cx="402336" cy="402336"/>
          </a:xfrm>
          <a:prstGeom prst="rect">
            <a:avLst/>
          </a:prstGeom>
          <a:solidFill>
            <a:srgbClr val="D0F5EC"/>
          </a:solidFill>
          <a:ln w="635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4165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D40"/>
                </a:solidFill>
              </a:rPr>
              <a:t>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" y="4352544"/>
            <a:ext cx="4864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A3A"/>
                </a:solidFill>
              </a:rPr>
              <a:t>Contract Protection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" y="4663440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B48A"/>
                </a:solidFill>
              </a:rPr>
              <a:t>Safeguard Titan with the right contract clauses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" y="4937760"/>
            <a:ext cx="48646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B82"/>
                </a:solidFill>
              </a:rPr>
              <a:t>Recommends contract clauses tailored to the gaps found — covering data protection, incident response and compliance obligations.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9048" y="4261104"/>
            <a:ext cx="5669280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9048" y="4261104"/>
            <a:ext cx="64008" cy="1536192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4425696"/>
            <a:ext cx="402336" cy="402336"/>
          </a:xfrm>
          <a:prstGeom prst="rect">
            <a:avLst/>
          </a:prstGeom>
          <a:solidFill>
            <a:srgbClr val="D0F5EC"/>
          </a:solidFill>
          <a:ln w="635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4165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D40"/>
                </a:solidFill>
              </a:rPr>
              <a:t>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75704" y="4352544"/>
            <a:ext cx="4864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A3A"/>
                </a:solidFill>
              </a:rPr>
              <a:t>Reports &amp; Live 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75704" y="4663440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B48A"/>
                </a:solidFill>
              </a:rPr>
              <a:t>Audit-ready reports generated in one click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75704" y="4937760"/>
            <a:ext cx="48646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B82"/>
                </a:solidFill>
              </a:rPr>
              <a:t>Executive summaries, gap tables and action plans exported as PDF or Word. Live dashboard tracks all vendors and open risks at a glance.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291072"/>
            <a:ext cx="12188952" cy="27432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0" y="637336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B82"/>
                </a:solidFill>
              </a:rPr>
              <a:t>CONFIDENTIAL  |  Titan Company Limited  | 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21440" y="630936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8A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2286000" cy="310896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1A3A"/>
                </a:solidFill>
              </a:rPr>
              <a:t>IMPACT &amp;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09728"/>
            <a:ext cx="90342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Built for Enterprise — Secure, Scalable &amp; Easy to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585216"/>
            <a:ext cx="9034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DDFF"/>
                </a:solidFill>
              </a:rPr>
              <a:t>Designed to fit seamlessly within Titan's existing processes and compliance standards.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" y="932688"/>
            <a:ext cx="5440680" cy="5102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" y="932688"/>
            <a:ext cx="5440680" cy="475488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96012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BUSINESS IMPACT AT A GLANCE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5193792" cy="694944"/>
          </a:xfrm>
          <a:prstGeom prst="rect">
            <a:avLst/>
          </a:prstGeom>
          <a:solidFill>
            <a:srgbClr val="F4F7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54864" cy="694944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64592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8A"/>
                </a:solidFill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6543" y="171907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</a:rPr>
              <a:t>Reduction in manual assessment effort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59152"/>
            <a:ext cx="5193792" cy="694944"/>
          </a:xfrm>
          <a:prstGeom prst="rect">
            <a:avLst/>
          </a:prstGeom>
          <a:solidFill>
            <a:srgbClr val="F4F7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359152"/>
            <a:ext cx="54864" cy="694944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450592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8A"/>
                </a:solidFill>
              </a:rPr>
              <a:t>~10×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6543" y="2523744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</a:rPr>
              <a:t>Faster vendor assessment turnaround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63824"/>
            <a:ext cx="5193792" cy="694944"/>
          </a:xfrm>
          <a:prstGeom prst="rect">
            <a:avLst/>
          </a:prstGeom>
          <a:solidFill>
            <a:srgbClr val="F4F7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163824"/>
            <a:ext cx="54864" cy="694944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255264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8A"/>
                </a:solidFill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66543" y="332841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</a:rPr>
              <a:t>Consistent, unbiased risk scoring every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68496"/>
            <a:ext cx="5193792" cy="694944"/>
          </a:xfrm>
          <a:prstGeom prst="rect">
            <a:avLst/>
          </a:prstGeom>
          <a:solidFill>
            <a:srgbClr val="F4F7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968496"/>
            <a:ext cx="54864" cy="694944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059935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8A"/>
                </a:solidFill>
              </a:rPr>
              <a:t>Zero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6543" y="4133087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</a:rPr>
              <a:t>Missed gaps — AI reviews every document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773168"/>
            <a:ext cx="5193792" cy="694944"/>
          </a:xfrm>
          <a:prstGeom prst="rect">
            <a:avLst/>
          </a:prstGeom>
          <a:solidFill>
            <a:srgbClr val="F4F7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773168"/>
            <a:ext cx="54864" cy="694944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4864607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8A"/>
                </a:solidFill>
              </a:rPr>
              <a:t>1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66543" y="4937759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</a:rPr>
              <a:t>For all vendor risk activities end-to-end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932688"/>
            <a:ext cx="5943600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89320" y="932688"/>
            <a:ext cx="64008" cy="1207008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1133856"/>
            <a:ext cx="402336" cy="402336"/>
          </a:xfrm>
          <a:prstGeom prst="rect">
            <a:avLst/>
          </a:prstGeom>
          <a:solidFill>
            <a:srgbClr val="D0F5EC"/>
          </a:solidFill>
          <a:ln w="635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53912" y="11155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D40"/>
                </a:solidFill>
              </a:rPr>
              <a:t>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4264" y="102412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A3A"/>
                </a:solidFill>
              </a:rPr>
              <a:t>Secure Access &amp; Single Sign-On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84264" y="1371600"/>
            <a:ext cx="5120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56B82"/>
                </a:solidFill>
              </a:rPr>
              <a:t>Integrates with Titan's Azure AD. Role-based access ensures the right people see the right data — with complete audit trails.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2231136"/>
            <a:ext cx="5943600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89320" y="2231136"/>
            <a:ext cx="64008" cy="1207008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53912" y="2432304"/>
            <a:ext cx="402336" cy="402336"/>
          </a:xfrm>
          <a:prstGeom prst="rect">
            <a:avLst/>
          </a:prstGeom>
          <a:solidFill>
            <a:srgbClr val="D0F5EC"/>
          </a:solidFill>
          <a:ln w="635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3912" y="241401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D40"/>
                </a:solidFill>
              </a:rPr>
              <a:t>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84264" y="232257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A3A"/>
                </a:solidFill>
              </a:rPr>
              <a:t>Instant Vendor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84264" y="2670048"/>
            <a:ext cx="5120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56B82"/>
                </a:solidFill>
              </a:rPr>
              <a:t>Send risk findings directly to vendor contacts in one click. Fully formatted notifications — no manual emails required.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529584"/>
            <a:ext cx="5943600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89320" y="3529584"/>
            <a:ext cx="64008" cy="1207008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53912" y="3730752"/>
            <a:ext cx="402336" cy="402336"/>
          </a:xfrm>
          <a:prstGeom prst="rect">
            <a:avLst/>
          </a:prstGeom>
          <a:solidFill>
            <a:srgbClr val="FFF3D0"/>
          </a:solidFill>
          <a:ln w="6350">
            <a:solidFill>
              <a:srgbClr val="D4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53912" y="371246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D40"/>
                </a:solidFill>
              </a:rPr>
              <a:t>⚙️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84264" y="362102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A3A"/>
                </a:solidFill>
              </a:rPr>
              <a:t>Admin Controls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84264" y="3968496"/>
            <a:ext cx="5120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56B82"/>
                </a:solidFill>
              </a:rPr>
              <a:t>Manage users, upload Titan's internal policies as reference standards, and control all platform settings from one admin panel.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4828032"/>
            <a:ext cx="5943600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89320" y="4828032"/>
            <a:ext cx="64008" cy="1207008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53912" y="5029200"/>
            <a:ext cx="402336" cy="402336"/>
          </a:xfrm>
          <a:prstGeom prst="rect">
            <a:avLst/>
          </a:prstGeom>
          <a:solidFill>
            <a:srgbClr val="FFF3D0"/>
          </a:solidFill>
          <a:ln w="6350">
            <a:solidFill>
              <a:srgbClr val="D4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3912" y="50109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D40"/>
                </a:solidFill>
              </a:rPr>
              <a:t>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84264" y="49194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A3A"/>
                </a:solidFill>
              </a:rPr>
              <a:t>Live Risk 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84264" y="5266944"/>
            <a:ext cx="5120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56B82"/>
                </a:solidFill>
              </a:rPr>
              <a:t>Track all active assessments, vendor risk trends and open gaps — giving leadership a clear, real-time picture of third-party exposure.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291072"/>
            <a:ext cx="12188952" cy="27432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0" y="637336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B82"/>
                </a:solidFill>
              </a:rPr>
              <a:t>CONFIDENTIAL  |  Titan Company Limited  |  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521440" y="630936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8A"/>
                </a:solidFill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