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120640" cy="1645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457200"/>
            <a:ext cx="676656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57800" y="457200"/>
            <a:ext cx="6766560" cy="4754880"/>
          </a:xfrm>
          <a:prstGeom prst="rect">
            <a:avLst/>
          </a:prstGeom>
          <a:solidFill>
            <a:srgbClr val="0A1A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630936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9144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4864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9144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18288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27432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36576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45720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54864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9144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18288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0" y="27432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36576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0" y="45720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54864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9144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18288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27432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36576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45720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54864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0" y="9144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0" y="18288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0" y="27432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0" y="36576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0" y="45720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5486400"/>
            <a:ext cx="36576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256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00D4AA"/>
                </a:solidFill>
              </a:rPr>
              <a:t>TITAN COMPANY LIMITED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66928"/>
            <a:ext cx="109728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777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TPRM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17373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D4AA"/>
                </a:solidFill>
              </a:rPr>
              <a:t>Assessment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248716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Smarter Third-Party Risk Management,
Powered by Artificial Intelligence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493008"/>
            <a:ext cx="4389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3703320"/>
            <a:ext cx="1389888" cy="658368"/>
          </a:xfrm>
          <a:prstGeom prst="rect">
            <a:avLst/>
          </a:prstGeom>
          <a:solidFill>
            <a:srgbClr val="00504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3730752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</a:rPr>
              <a:t>7-Step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" y="4005072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AI Pipeline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3703320"/>
            <a:ext cx="1389888" cy="658368"/>
          </a:xfrm>
          <a:prstGeom prst="rect">
            <a:avLst/>
          </a:prstGeom>
          <a:solidFill>
            <a:srgbClr val="00504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0" y="3730752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</a:rPr>
              <a:t>Real-Time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4005072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Progress Tracking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36976" y="3703320"/>
            <a:ext cx="1389888" cy="658368"/>
          </a:xfrm>
          <a:prstGeom prst="rect">
            <a:avLst/>
          </a:prstGeom>
          <a:solidFill>
            <a:srgbClr val="00504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0128" y="3730752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</a:rPr>
              <a:t>Auto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0128" y="4005072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Report Generation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263640"/>
            <a:ext cx="12188952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0" y="63550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AA"/>
                </a:solidFill>
              </a:rPr>
              <a:t>CONFIDENTIAL  |  Titan Company Limited  | 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21440" y="6291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5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1A2E"/>
                </a:solidFill>
              </a:rPr>
              <a:t>CORE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3716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AI-Powered Risk Intelligence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179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D4AA"/>
                </a:solidFill>
              </a:rPr>
              <a:t>End-to-end automation from vendor documents to actionable risk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5"/>
            <a:ext cx="11548872" cy="27432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1143000"/>
            <a:ext cx="3749039" cy="2176272"/>
          </a:xfrm>
          <a:prstGeom prst="rect">
            <a:avLst/>
          </a:prstGeom>
          <a:solidFill>
            <a:srgbClr val="0F2A44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" y="1252728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12344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A2E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261872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AA"/>
                </a:solidFill>
              </a:rPr>
              <a:t>📋  Vendor Assessment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" y="1655064"/>
            <a:ext cx="3529583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PBA scoring — 10-question sensitivity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039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SIG Lite: 21 control sections parsed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3408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Auto-extracts vendor responses &amp; justifications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51375" y="1143000"/>
            <a:ext cx="3749039" cy="2176272"/>
          </a:xfrm>
          <a:prstGeom prst="rect">
            <a:avLst/>
          </a:prstGeom>
          <a:solidFill>
            <a:srgbClr val="0F2A44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1103" y="1252728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1103" y="12344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A2E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7" y="1261872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AA"/>
                </a:solidFill>
              </a:rPr>
              <a:t>🔍  Document Intelligence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1103" y="1655064"/>
            <a:ext cx="3529583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7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Processes PDFs, DOCX, XLSX, PPTX,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7" y="2039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OCR-powered text extraction from scanned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7" y="23408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1536-dim embeddings via OpenAI (pgvector DB)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55863" y="1143000"/>
            <a:ext cx="3749039" cy="2176272"/>
          </a:xfrm>
          <a:prstGeom prst="rect">
            <a:avLst/>
          </a:prstGeom>
          <a:solidFill>
            <a:srgbClr val="0F2A44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65591" y="1252728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1" y="12344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A2E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6215" y="1261872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AA"/>
                </a:solidFill>
              </a:rPr>
              <a:t>⚡  Gap Analysis (RAG + LLM)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65591" y="1655064"/>
            <a:ext cx="3529583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5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Retrieves top-5 evidence chunks per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5" y="2039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Identifies: missing controls, policy violations,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5" y="23408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evidence gaps, process gaps &amp; future risks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" y="3483864"/>
            <a:ext cx="3749039" cy="2176272"/>
          </a:xfrm>
          <a:prstGeom prst="rect">
            <a:avLst/>
          </a:prstGeom>
          <a:solidFill>
            <a:srgbClr val="0F2A44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6616" y="3593592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" y="35753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A2E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602736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AA"/>
                </a:solidFill>
              </a:rPr>
              <a:t>🛠  Remediation Planning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" y="3995928"/>
            <a:ext cx="3529583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AI-generated action plan per identified gap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3799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Prioritised: Immediate / Short / Medium / Long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6817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Includes owner, timeline &amp; acceptance criteria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51375" y="3483864"/>
            <a:ext cx="3749039" cy="2176272"/>
          </a:xfrm>
          <a:prstGeom prst="rect">
            <a:avLst/>
          </a:prstGeom>
          <a:solidFill>
            <a:srgbClr val="0F2A44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1103" y="3593592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5753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A2E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7" y="3602736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AA"/>
                </a:solidFill>
              </a:rPr>
              <a:t>📜  Contract Intelligence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61103" y="3995928"/>
            <a:ext cx="3529583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15967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Maps gaps to existing contract clauses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5967" y="43799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Suggests new clauses: Must-have / Should-have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7" y="46817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Covers AI governance, data sovereignty &amp; more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5863" y="3483864"/>
            <a:ext cx="3749039" cy="2176272"/>
          </a:xfrm>
          <a:prstGeom prst="rect">
            <a:avLst/>
          </a:prstGeom>
          <a:solidFill>
            <a:srgbClr val="0F2A44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65591" y="3593592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65591" y="35753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A2E"/>
                </a:solidFill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86215" y="3602736"/>
            <a:ext cx="3108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AA"/>
                </a:solidFill>
              </a:rPr>
              <a:t>✅  LLM Quality Judge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65591" y="3995928"/>
            <a:ext cx="3529583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0455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Multi-pass review — up to 3 auto-iterations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0455" y="43799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Removes duplicates, vague wording, weak evidence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0455" y="46817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▸  Validates severity alignment &amp; summary accuracy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6263640"/>
            <a:ext cx="12188952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0" y="63550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AA"/>
                </a:solidFill>
              </a:rPr>
              <a:t>CONFIDENTIAL  |  Titan Company Limited  | 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0" y="6291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60120"/>
          </a:xfrm>
          <a:prstGeom prst="rect">
            <a:avLst/>
          </a:prstGeom>
          <a:solidFill>
            <a:srgbClr val="05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2286000" cy="2926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1A2E"/>
                </a:solidFill>
              </a:rPr>
              <a:t>PLATFORM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37160"/>
            <a:ext cx="9079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Enterprise-Grade Security, Analytics &amp;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621792"/>
            <a:ext cx="9079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C518"/>
                </a:solidFill>
              </a:rPr>
              <a:t>Built for Titan's compliance standards — secure, auditable and scalable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42415"/>
            <a:ext cx="11548872" cy="27432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1143000"/>
            <a:ext cx="5486400" cy="1115568"/>
          </a:xfrm>
          <a:prstGeom prst="rect">
            <a:avLst/>
          </a:prstGeom>
          <a:solidFill>
            <a:srgbClr val="0F2A44"/>
          </a:solidFill>
          <a:ln w="508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AA"/>
                </a:solidFill>
              </a:rPr>
              <a:t>📊  Dashboard &amp;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81912"/>
            <a:ext cx="5120640" cy="18288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4592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Real-time home dashboard with gap charts, monthly assessment trends, vendor comparisons and division filters.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" y="2359152"/>
            <a:ext cx="5486400" cy="1115568"/>
          </a:xfrm>
          <a:prstGeom prst="rect">
            <a:avLst/>
          </a:prstGeom>
          <a:solidFill>
            <a:srgbClr val="0F2A44"/>
          </a:solidFill>
          <a:ln w="508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505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AA"/>
                </a:solidFill>
              </a:rPr>
              <a:t>📧  Vendor Email Notifications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98064"/>
            <a:ext cx="5120640" cy="18288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862072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One-click gap notification emails sent directly to the vendor SPOC via Microsoft Graph API — fully formatted HTML reports.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3575304"/>
            <a:ext cx="5486400" cy="1115568"/>
          </a:xfrm>
          <a:prstGeom prst="rect">
            <a:avLst/>
          </a:prstGeom>
          <a:solidFill>
            <a:srgbClr val="0F2A44"/>
          </a:solidFill>
          <a:ln w="508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66674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AA"/>
                </a:solidFill>
              </a:rPr>
              <a:t>🔐  Enterprise Security &amp; SSO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14216"/>
            <a:ext cx="5120640" cy="18288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078224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Azure AD SSO, bcrypt auth, RBAC (Analyst / Admin), CSRF protection, rate limiting, account lockout &amp; full audit logs.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" y="4791456"/>
            <a:ext cx="5486400" cy="1115568"/>
          </a:xfrm>
          <a:prstGeom prst="rect">
            <a:avLst/>
          </a:prstGeom>
          <a:solidFill>
            <a:srgbClr val="0F2A44"/>
          </a:solidFill>
          <a:ln w="508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8828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AA"/>
                </a:solidFill>
              </a:rPr>
              <a:t>🏗  Admin &amp; Pipeline Control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230368"/>
            <a:ext cx="5120640" cy="18288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294376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Toggle LLM Judge, manage default policy/contract documents, control caching, view platform info &amp; manage users.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143000"/>
            <a:ext cx="5897880" cy="4892040"/>
          </a:xfrm>
          <a:prstGeom prst="rect">
            <a:avLst/>
          </a:prstGeom>
          <a:solidFill>
            <a:srgbClr val="071830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143000"/>
            <a:ext cx="5897880" cy="438912"/>
          </a:xfrm>
          <a:prstGeom prst="rect">
            <a:avLst/>
          </a:prstGeom>
          <a:solidFill>
            <a:srgbClr val="005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16128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7-STEP AUTOMATED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91640"/>
            <a:ext cx="365760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709928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A2E"/>
                </a:solidFill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72821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Parse SIG Lite &amp; PBA Scoring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81928" y="2039112"/>
            <a:ext cx="54864" cy="2011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2240280"/>
            <a:ext cx="365760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2258568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A2E"/>
                </a:solidFill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27685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Embed Policies &amp; Contract Clauses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1928" y="2587752"/>
            <a:ext cx="54864" cy="2011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2788920"/>
            <a:ext cx="365760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807208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A2E"/>
                </a:solidFill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82549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Analyse Questionnaire Responses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1928" y="3136392"/>
            <a:ext cx="54864" cy="2011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3337560"/>
            <a:ext cx="365760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355848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A2E"/>
                </a:solidFill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37413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Chunk &amp; Embed Vendor Artifacts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81928" y="3685032"/>
            <a:ext cx="54864" cy="2011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3886200"/>
            <a:ext cx="365760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3904487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A2E"/>
                </a:solidFill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92277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AI Gap Analysis (RAG + GPT)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81928" y="4233672"/>
            <a:ext cx="54864" cy="2011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6480" y="4434840"/>
            <a:ext cx="365760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4453127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A2E"/>
                </a:solidFill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47141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Generate Remedial Plan &amp; Contract Recs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81928" y="4782312"/>
            <a:ext cx="54864" cy="2011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26480" y="4983479"/>
            <a:ext cx="365760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5001767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A2E"/>
                </a:solidFill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020055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LLM Judge Quality Review &amp; Finalise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5596128"/>
            <a:ext cx="2606040" cy="347472"/>
          </a:xfrm>
          <a:prstGeom prst="rect">
            <a:avLst/>
          </a:prstGeom>
          <a:solidFill>
            <a:srgbClr val="00554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9632" y="560527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📄  PDF Report Export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69680" y="5596128"/>
            <a:ext cx="2788920" cy="347472"/>
          </a:xfrm>
          <a:prstGeom prst="rect">
            <a:avLst/>
          </a:prstGeom>
          <a:solidFill>
            <a:srgbClr val="00554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42832" y="560527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📝  Word / DOCX Export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6263640"/>
            <a:ext cx="12188952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0" y="63550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AA"/>
                </a:solidFill>
              </a:rPr>
              <a:t>CONFIDENTIAL  |  Titan Company Limited  |  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21440" y="6291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